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3" d="100"/>
          <a:sy n="73" d="100"/>
        </p:scale>
        <p:origin x="619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180149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852160" cy="5143500"/>
          </a:xfrm>
          <a:prstGeom prst="rect">
            <a:avLst/>
          </a:prstGeom>
          <a:solidFill>
            <a:srgbClr val="141F5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5852160" y="0"/>
            <a:ext cx="3291840" cy="5143500"/>
          </a:xfrm>
          <a:prstGeom prst="rect">
            <a:avLst/>
          </a:prstGeom>
          <a:solidFill>
            <a:srgbClr val="2E4BB5">
              <a:alpha val="8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502920"/>
            <a:ext cx="914400" cy="12801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Shape 4"/>
          <p:cNvSpPr/>
          <p:nvPr/>
        </p:nvSpPr>
        <p:spPr>
          <a:xfrm>
            <a:off x="658368" y="320040"/>
            <a:ext cx="512064" cy="21945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27432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20040" y="960120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StudentHub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320040" y="1783080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kern="0" spc="100" dirty="0">
                <a:solidFill>
                  <a:srgbClr val="D4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IMPLEMENTATION OF A</a:t>
            </a:r>
            <a:endParaRPr lang="en-US" sz="1300" dirty="0"/>
          </a:p>
          <a:p>
            <a:pPr marL="0" indent="0">
              <a:buNone/>
            </a:pPr>
            <a:r>
              <a:rPr lang="en-US" sz="1300" kern="0" spc="100" dirty="0">
                <a:solidFill>
                  <a:srgbClr val="D4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LOCALLY-HOSTED STUDENT MANAGEMENT SYSTEM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" y="2578608"/>
            <a:ext cx="384048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" y="2706624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AE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MERIKI JUBERT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0040" y="301752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AE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HND Year 2 — Software Engineering  |  </a:t>
            </a:r>
            <a:r>
              <a:rPr lang="en-US" sz="1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SHIBMATS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0040" y="3310128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AE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Host: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Development Center (DDC), Buea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0040" y="3602736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AE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Period: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1 – August 1, 2025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89320" y="4572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D4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By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989320" y="749808"/>
            <a:ext cx="2834640" cy="36576"/>
          </a:xfrm>
          <a:prstGeom prst="rect">
            <a:avLst/>
          </a:prstGeom>
          <a:solidFill>
            <a:srgbClr val="0D9488">
              <a:alpha val="6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5989320" y="82296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Mr. Kwanyuy Daniel Vernyuy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Director, DDC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989320" y="141732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Ms. Tabi Lizzy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&amp; Evaluation, DDC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989320" y="201168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Madam Tabi Lizzy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Supervisor, SHIBMATS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989320" y="3017520"/>
            <a:ext cx="2834640" cy="36576"/>
          </a:xfrm>
          <a:prstGeom prst="rect">
            <a:avLst/>
          </a:prstGeom>
          <a:solidFill>
            <a:srgbClr val="0D9488">
              <a:alpha val="6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5989320" y="31089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4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Year: 2024/2025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2A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5943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Outline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420624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34440"/>
            <a:ext cx="502920" cy="731520"/>
          </a:xfrm>
          <a:prstGeom prst="rect">
            <a:avLst/>
          </a:prstGeom>
          <a:solidFill>
            <a:srgbClr val="2E4BB5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399032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1289304"/>
            <a:ext cx="3520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1618488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system was needed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1234440"/>
            <a:ext cx="420624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234440"/>
            <a:ext cx="502920" cy="7315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1399032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349240" y="1289304"/>
            <a:ext cx="3520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Host — DDC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349240" y="1618488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Digital Development Center, Buea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103120"/>
            <a:ext cx="420624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03120"/>
            <a:ext cx="502920" cy="731520"/>
          </a:xfrm>
          <a:prstGeom prst="rect">
            <a:avLst/>
          </a:prstGeom>
          <a:solidFill>
            <a:srgbClr val="2E4BB5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2267712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60120" y="2157984"/>
            <a:ext cx="3520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Overview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60120" y="2487168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StudentHub is and does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2103120"/>
            <a:ext cx="420624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2103120"/>
            <a:ext cx="502920" cy="7315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4754880" y="2267712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349240" y="2157984"/>
            <a:ext cx="3520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Architecture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49240" y="2487168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Stack, design patterns, and database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2971800"/>
            <a:ext cx="420624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2971800"/>
            <a:ext cx="502920" cy="731520"/>
          </a:xfrm>
          <a:prstGeom prst="rect">
            <a:avLst/>
          </a:prstGeom>
          <a:solidFill>
            <a:srgbClr val="2E4BB5"/>
          </a:solidFill>
          <a:ln/>
        </p:spPr>
      </p:sp>
      <p:sp>
        <p:nvSpPr>
          <p:cNvPr id="27" name="Text 25"/>
          <p:cNvSpPr/>
          <p:nvPr/>
        </p:nvSpPr>
        <p:spPr>
          <a:xfrm>
            <a:off x="365760" y="3136392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60120" y="3026664"/>
            <a:ext cx="3520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60120" y="3355848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RBAC, GPA, Departments, LAN access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54880" y="2971800"/>
            <a:ext cx="420624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54880" y="2971800"/>
            <a:ext cx="502920" cy="7315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2" name="Text 30"/>
          <p:cNvSpPr/>
          <p:nvPr/>
        </p:nvSpPr>
        <p:spPr>
          <a:xfrm>
            <a:off x="4754880" y="3136392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349240" y="3026664"/>
            <a:ext cx="3520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&amp; Restore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349240" y="3355848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&amp; manual data resilience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65760" y="3904488"/>
            <a:ext cx="4114800" cy="676656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65760" y="3895344"/>
            <a:ext cx="502920" cy="676656"/>
          </a:xfrm>
          <a:prstGeom prst="rect">
            <a:avLst/>
          </a:prstGeom>
          <a:solidFill>
            <a:srgbClr val="2E4BB5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365760" y="4005072"/>
            <a:ext cx="50292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960120" y="3895344"/>
            <a:ext cx="3520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Impact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960120" y="4224528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 for schools in Cameroon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754880" y="3840480"/>
            <a:ext cx="420624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754880" y="3840480"/>
            <a:ext cx="502920" cy="7315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2" name="Text 40"/>
          <p:cNvSpPr/>
          <p:nvPr/>
        </p:nvSpPr>
        <p:spPr>
          <a:xfrm>
            <a:off x="4754880" y="4005072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5349240" y="3895344"/>
            <a:ext cx="3520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Future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5349240" y="4224528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reflection and next steps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365760" y="4873752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800" dirty="0"/>
          </a:p>
        </p:txBody>
      </p:sp>
      <p:sp>
        <p:nvSpPr>
          <p:cNvPr id="50" name="Shape 48"/>
          <p:cNvSpPr/>
          <p:nvPr/>
        </p:nvSpPr>
        <p:spPr>
          <a:xfrm>
            <a:off x="0" y="4818888"/>
            <a:ext cx="9144000" cy="342900"/>
          </a:xfrm>
          <a:prstGeom prst="rect">
            <a:avLst/>
          </a:prstGeom>
          <a:solidFill>
            <a:srgbClr val="1B2A6B"/>
          </a:solidFill>
          <a:ln/>
        </p:spPr>
      </p:sp>
      <p:sp>
        <p:nvSpPr>
          <p:cNvPr id="51" name="Text 49"/>
          <p:cNvSpPr/>
          <p:nvPr/>
        </p:nvSpPr>
        <p:spPr>
          <a:xfrm>
            <a:off x="137160" y="4818888"/>
            <a:ext cx="8869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0AE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MERIKI JUBERT  •  HND SOFTWARE ENGINEERING  •  SHIBMATS  •  2025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8686800" y="481888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0AE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2A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566928"/>
            <a:ext cx="2560320" cy="2560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56692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PROBLEM STATEMENT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9144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 Facing Local Schools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228600" y="1572768"/>
            <a:ext cx="4206240" cy="129844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1572768"/>
            <a:ext cx="420624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9" name="Text 7"/>
          <p:cNvSpPr/>
          <p:nvPr/>
        </p:nvSpPr>
        <p:spPr>
          <a:xfrm>
            <a:off x="338328" y="168249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886968" y="1682496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Paper-Based Records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86968" y="1975104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data stored in physical ledgers — vulnerable to fire, water, pests, and loss. Retrieval takes hours.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90872" y="1572768"/>
            <a:ext cx="4206240" cy="129844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90872" y="1572768"/>
            <a:ext cx="420624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4" name="Text 12"/>
          <p:cNvSpPr/>
          <p:nvPr/>
        </p:nvSpPr>
        <p:spPr>
          <a:xfrm>
            <a:off x="4800600" y="168249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5349240" y="1682496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Expensive Solutions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349240" y="1975104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systems like PowerSchool require costly licences and constant internet — unaffordable for small institutions.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28600" y="3035808"/>
            <a:ext cx="4206240" cy="129844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28600" y="3035808"/>
            <a:ext cx="420624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9" name="Text 17"/>
          <p:cNvSpPr/>
          <p:nvPr/>
        </p:nvSpPr>
        <p:spPr>
          <a:xfrm>
            <a:off x="338328" y="314553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886968" y="3145536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Dependency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86968" y="3438144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Cloud-based tools fail during outages, which are frequent in Buea and most of Cameroon.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90872" y="3035808"/>
            <a:ext cx="4206240" cy="129844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90872" y="3035808"/>
            <a:ext cx="420624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4" name="Text 22"/>
          <p:cNvSpPr/>
          <p:nvPr/>
        </p:nvSpPr>
        <p:spPr>
          <a:xfrm>
            <a:off x="4800600" y="314553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5349240" y="3145536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GPA Automation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349240" y="3438144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GPAs are calculated manually, leading to arithmetic errors and delayed report cards.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2A6B"/>
          </a:solidFill>
          <a:ln/>
        </p:spPr>
      </p:sp>
      <p:sp>
        <p:nvSpPr>
          <p:cNvPr id="28" name="Text 26"/>
          <p:cNvSpPr/>
          <p:nvPr/>
        </p:nvSpPr>
        <p:spPr>
          <a:xfrm>
            <a:off x="137160" y="4818888"/>
            <a:ext cx="8869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0AE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MERIKI JUBERT  •  HND SOFTWARE ENGINEERING  •  SHIBMATS  •  2025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8686800" y="481888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0AE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2A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566928"/>
            <a:ext cx="2560320" cy="2560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56692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HOST ORGANISATION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9144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Development Center (DDC)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228600" y="1463040"/>
            <a:ext cx="420624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228600" y="1463040"/>
            <a:ext cx="420624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384048" y="1609344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Location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011680" y="1609344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Checkpoint, University of Buea, South West Region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84048" y="2157984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Established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011680" y="2157984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  |  Centre opened: November 26, 2024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84048" y="2706624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Director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011680" y="2706624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Mr. Kome Emmanuel N.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84048" y="3255264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Tech Director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011680" y="3255264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Mr. Kwanyuy Daniel Vernyuy (Field Supervisor)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84048" y="3803904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M&amp;E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011680" y="3803904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Ms. Tabi Lizzy (Administrative Supervisor)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1463040"/>
            <a:ext cx="425196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1463040"/>
            <a:ext cx="425196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4800600" y="157276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Services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257800" y="1901952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Services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257800" y="2176272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reliable internet connectivity to the University of Buea and all its faculties.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257800" y="2798064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E-Learning Services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257800" y="3072384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lecturers to record classes for students to watch on a later date.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257800" y="3694176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Programs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257800" y="3968496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training for students in software engineering and network engineering.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2A6B"/>
          </a:solidFill>
          <a:ln/>
        </p:spPr>
      </p:sp>
      <p:sp>
        <p:nvSpPr>
          <p:cNvPr id="32" name="Text 30"/>
          <p:cNvSpPr/>
          <p:nvPr/>
        </p:nvSpPr>
        <p:spPr>
          <a:xfrm>
            <a:off x="137160" y="4818888"/>
            <a:ext cx="8869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0AE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MERIKI JUBERT  •  HND SOFTWARE ENGINEERING  •  SHIBMATS  •  2025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8686800" y="481888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0AE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2A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566928"/>
            <a:ext cx="2560320" cy="2560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56692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SYSTEM OVERVIEW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9144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StudentHub?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228600" y="1417320"/>
            <a:ext cx="8686800" cy="914400"/>
          </a:xfrm>
          <a:prstGeom prst="rect">
            <a:avLst/>
          </a:prstGeom>
          <a:solidFill>
            <a:srgbClr val="1B2A6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11480" y="1481328"/>
            <a:ext cx="83210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StudentHub is a locally-hosted, offline-first Student Management System built with Node.js, Express.js, and SQLite — designed to bring affordable, internet-independent digital record management to educational institutions.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28600" y="2487168"/>
            <a:ext cx="2816352" cy="2423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28600" y="2487168"/>
            <a:ext cx="2816352" cy="6400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" y="25420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68680" y="2596896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38328" y="3246120"/>
            <a:ext cx="25968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View enrolled courses &amp; grades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8328" y="3630168"/>
            <a:ext cx="25968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View calculated GPA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8328" y="4014216"/>
            <a:ext cx="25968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Submit grade feedback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0" y="2487168"/>
            <a:ext cx="2816352" cy="2423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0" y="2487168"/>
            <a:ext cx="2816352" cy="640080"/>
          </a:xfrm>
          <a:prstGeom prst="rect">
            <a:avLst/>
          </a:prstGeom>
          <a:solidFill>
            <a:srgbClr val="2E4BB5"/>
          </a:solidFill>
          <a:ln/>
        </p:spPr>
      </p:sp>
      <p:sp>
        <p:nvSpPr>
          <p:cNvPr id="18" name="Text 16"/>
          <p:cNvSpPr/>
          <p:nvPr/>
        </p:nvSpPr>
        <p:spPr>
          <a:xfrm>
            <a:off x="3291840" y="25420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840480" y="2596896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310128" y="3246120"/>
            <a:ext cx="25968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View assigned courses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310128" y="3630168"/>
            <a:ext cx="25968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View enrolled students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310128" y="4014216"/>
            <a:ext cx="25968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Input &amp; edit grades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172200" y="2487168"/>
            <a:ext cx="2816352" cy="2423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72200" y="2487168"/>
            <a:ext cx="2816352" cy="640080"/>
          </a:xfrm>
          <a:prstGeom prst="rect">
            <a:avLst/>
          </a:prstGeom>
          <a:solidFill>
            <a:srgbClr val="1B2A6B"/>
          </a:solidFill>
          <a:ln/>
        </p:spPr>
      </p:sp>
      <p:sp>
        <p:nvSpPr>
          <p:cNvPr id="25" name="Text 23"/>
          <p:cNvSpPr/>
          <p:nvPr/>
        </p:nvSpPr>
        <p:spPr>
          <a:xfrm>
            <a:off x="6263640" y="25420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812280" y="2596896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281928" y="3246120"/>
            <a:ext cx="25968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Manage users, departments &amp; courses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81928" y="3630168"/>
            <a:ext cx="25968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View system stats &amp; feedback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281928" y="4014216"/>
            <a:ext cx="25968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Generate LAN QR code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2A6B"/>
          </a:solidFill>
          <a:ln/>
        </p:spPr>
      </p:sp>
      <p:sp>
        <p:nvSpPr>
          <p:cNvPr id="31" name="Text 29"/>
          <p:cNvSpPr/>
          <p:nvPr/>
        </p:nvSpPr>
        <p:spPr>
          <a:xfrm>
            <a:off x="137160" y="4818888"/>
            <a:ext cx="8869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0AE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MERIKI JUBERT  •  HND SOFTWARE ENGINEERING  •  SHIBMATS  •  2025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8686800" y="481888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0AE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2A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E4BB5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566928"/>
            <a:ext cx="2560320" cy="2560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56692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TECHNICAL ARCHITECTURE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9144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StudentHub is Built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164592" y="1463040"/>
            <a:ext cx="1627632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64592" y="1463040"/>
            <a:ext cx="1627632" cy="4572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9" name="Text 7"/>
          <p:cNvSpPr/>
          <p:nvPr/>
        </p:nvSpPr>
        <p:spPr>
          <a:xfrm>
            <a:off x="219456" y="1536192"/>
            <a:ext cx="1517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37744" y="2048256"/>
            <a:ext cx="14813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· CSS3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37744" y="2432304"/>
            <a:ext cx="14813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Vanilla JavaScript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37744" y="2816352"/>
            <a:ext cx="14813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API (REST)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929384" y="1463040"/>
            <a:ext cx="1627632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929384" y="1463040"/>
            <a:ext cx="1627632" cy="457200"/>
          </a:xfrm>
          <a:prstGeom prst="rect">
            <a:avLst/>
          </a:prstGeom>
          <a:solidFill>
            <a:srgbClr val="2E4BB5"/>
          </a:solidFill>
          <a:ln/>
        </p:spPr>
      </p:sp>
      <p:sp>
        <p:nvSpPr>
          <p:cNvPr id="15" name="Text 13"/>
          <p:cNvSpPr/>
          <p:nvPr/>
        </p:nvSpPr>
        <p:spPr>
          <a:xfrm>
            <a:off x="1984248" y="1536192"/>
            <a:ext cx="1517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002536" y="2048256"/>
            <a:ext cx="14813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002536" y="2432304"/>
            <a:ext cx="14813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002536" y="2816352"/>
            <a:ext cx="14813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RESTful API Routes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94176" y="1463040"/>
            <a:ext cx="1627632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94176" y="1463040"/>
            <a:ext cx="1627632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3749040" y="1536192"/>
            <a:ext cx="1517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767328" y="2048256"/>
            <a:ext cx="14813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767328" y="2432304"/>
            <a:ext cx="14813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7-table schema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767328" y="2816352"/>
            <a:ext cx="14813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server needed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58968" y="1463040"/>
            <a:ext cx="1627632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458968" y="1463040"/>
            <a:ext cx="1627632" cy="4572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7" name="Text 25"/>
          <p:cNvSpPr/>
          <p:nvPr/>
        </p:nvSpPr>
        <p:spPr>
          <a:xfrm>
            <a:off x="5513832" y="1536192"/>
            <a:ext cx="1517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532120" y="2048256"/>
            <a:ext cx="14813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+ JWT auth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532120" y="2432304"/>
            <a:ext cx="14813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Bearer token headers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532120" y="2816352"/>
            <a:ext cx="14813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guards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223760" y="1463040"/>
            <a:ext cx="1627632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223760" y="1463040"/>
            <a:ext cx="1627632" cy="4572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3" name="Text 31"/>
          <p:cNvSpPr/>
          <p:nvPr/>
        </p:nvSpPr>
        <p:spPr>
          <a:xfrm>
            <a:off x="7278624" y="1536192"/>
            <a:ext cx="1517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296912" y="2048256"/>
            <a:ext cx="14813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Binds 0.0.0.0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296912" y="2432304"/>
            <a:ext cx="14813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 multi-device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296912" y="2816352"/>
            <a:ext cx="14813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code access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164592" y="3977640"/>
            <a:ext cx="8814816" cy="804672"/>
          </a:xfrm>
          <a:prstGeom prst="rect">
            <a:avLst/>
          </a:prstGeom>
          <a:solidFill>
            <a:srgbClr val="1B2A6B"/>
          </a:solidFill>
          <a:ln/>
        </p:spPr>
      </p:sp>
      <p:sp>
        <p:nvSpPr>
          <p:cNvPr id="38" name="Text 36"/>
          <p:cNvSpPr/>
          <p:nvPr/>
        </p:nvSpPr>
        <p:spPr>
          <a:xfrm>
            <a:off x="164592" y="4059936"/>
            <a:ext cx="97942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/ Device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144016" y="4059936"/>
            <a:ext cx="97942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2123440" y="4059936"/>
            <a:ext cx="97942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Request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3102864" y="4059936"/>
            <a:ext cx="97942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4082288" y="4059936"/>
            <a:ext cx="97942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 Server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061712" y="4059936"/>
            <a:ext cx="97942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6041136" y="4059936"/>
            <a:ext cx="97942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Database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020560" y="4059936"/>
            <a:ext cx="97942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7999984" y="4059936"/>
            <a:ext cx="97942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Response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2A6B"/>
          </a:solidFill>
          <a:ln/>
        </p:spPr>
      </p:sp>
      <p:sp>
        <p:nvSpPr>
          <p:cNvPr id="48" name="Text 46"/>
          <p:cNvSpPr/>
          <p:nvPr/>
        </p:nvSpPr>
        <p:spPr>
          <a:xfrm>
            <a:off x="137160" y="4818888"/>
            <a:ext cx="8869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0AE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MERIKI JUBERT  •  HND SOFTWARE ENGINEERING  •  SHIBMATS  •  2025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8686800" y="481888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0AE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2A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566928"/>
            <a:ext cx="2560320" cy="2560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56692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DATABASE DESIGN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9144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7-Table Relational Schema (SQLite)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182880" y="1417320"/>
            <a:ext cx="4389120" cy="694944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82880" y="1417320"/>
            <a:ext cx="73152" cy="694944"/>
          </a:xfrm>
          <a:prstGeom prst="rect">
            <a:avLst/>
          </a:prstGeom>
          <a:solidFill>
            <a:srgbClr val="2E4BB5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453896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4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170992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· name · email · password (bcrypt)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(admin/teacher/student) · dept_id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800600" y="1417320"/>
            <a:ext cx="4389120" cy="694944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00600" y="1417320"/>
            <a:ext cx="73152" cy="69494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4983480" y="1453896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83480" y="170992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· name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82880" y="2240280"/>
            <a:ext cx="4389120" cy="694944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82880" y="2240280"/>
            <a:ext cx="73152" cy="69494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2276856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" y="253288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· name · credits · dept_id · teacher_id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800600" y="2240280"/>
            <a:ext cx="4389120" cy="694944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00600" y="2240280"/>
            <a:ext cx="73152" cy="69494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1" name="Text 19"/>
          <p:cNvSpPr/>
          <p:nvPr/>
        </p:nvSpPr>
        <p:spPr>
          <a:xfrm>
            <a:off x="4983480" y="2276856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teacher_courses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83480" y="253288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· teacher_id (FK) · course_id (FK)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82880" y="3063240"/>
            <a:ext cx="4389120" cy="694944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182880" y="3063240"/>
            <a:ext cx="73152" cy="69494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5" name="Text 23"/>
          <p:cNvSpPr/>
          <p:nvPr/>
        </p:nvSpPr>
        <p:spPr>
          <a:xfrm>
            <a:off x="365760" y="3099816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student_enrollments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65760" y="335584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· student_id (FK) · course_id (FK)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800600" y="3063240"/>
            <a:ext cx="4389120" cy="694944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800600" y="3063240"/>
            <a:ext cx="73152" cy="69494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9" name="Text 27"/>
          <p:cNvSpPr/>
          <p:nvPr/>
        </p:nvSpPr>
        <p:spPr>
          <a:xfrm>
            <a:off x="4983480" y="3099816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student_grades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983480" y="335584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· student_id (FK) · course_id (FK) · grade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82880" y="3886200"/>
            <a:ext cx="4389120" cy="694944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182880" y="3886200"/>
            <a:ext cx="73152" cy="69494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3" name="Text 31"/>
          <p:cNvSpPr/>
          <p:nvPr/>
        </p:nvSpPr>
        <p:spPr>
          <a:xfrm>
            <a:off x="365760" y="3922776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grade_issues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65760" y="417880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· student_id (FK) · student_name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· message · reported_at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754880" y="3895448"/>
            <a:ext cx="4389120" cy="749703"/>
          </a:xfrm>
          <a:prstGeom prst="rect">
            <a:avLst/>
          </a:prstGeom>
          <a:solidFill>
            <a:srgbClr val="1B2A6B"/>
          </a:solidFill>
          <a:ln/>
        </p:spPr>
      </p:sp>
      <p:sp>
        <p:nvSpPr>
          <p:cNvPr id="36" name="Text 34"/>
          <p:cNvSpPr/>
          <p:nvPr/>
        </p:nvSpPr>
        <p:spPr>
          <a:xfrm>
            <a:off x="4800600" y="3907430"/>
            <a:ext cx="4416552" cy="6737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GPA Formula:  GPA = Σ (grade_points × credits)  ÷  Σ (credits)     |     Scale: A+/A = 4.0  ·  B = 3.0  ·  C = 2.0  ·  D = 1.0  ·  F = 0.0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0" y="4832604"/>
            <a:ext cx="9144000" cy="342900"/>
          </a:xfrm>
          <a:prstGeom prst="rect">
            <a:avLst/>
          </a:prstGeom>
          <a:solidFill>
            <a:srgbClr val="1B2A6B"/>
          </a:solidFill>
          <a:ln/>
        </p:spPr>
      </p:sp>
      <p:sp>
        <p:nvSpPr>
          <p:cNvPr id="38" name="Text 36"/>
          <p:cNvSpPr/>
          <p:nvPr/>
        </p:nvSpPr>
        <p:spPr>
          <a:xfrm>
            <a:off x="54864" y="4873120"/>
            <a:ext cx="8869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0AE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MERIKI JUBERT  •  HND SOFTWARE ENGINEERING  •  SHIBMATS  •  2025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8686800" y="481888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0AE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2A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566928"/>
            <a:ext cx="2560320" cy="2560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56692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KEY FEATURES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9144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StudentHub Stand Out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201168" y="1389888"/>
            <a:ext cx="2834640" cy="14813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01168" y="1389888"/>
            <a:ext cx="2834640" cy="54864"/>
          </a:xfrm>
          <a:prstGeom prst="rect">
            <a:avLst/>
          </a:prstGeom>
          <a:solidFill>
            <a:srgbClr val="2E4BB5"/>
          </a:solidFill>
          <a:ln/>
        </p:spPr>
      </p:sp>
      <p:sp>
        <p:nvSpPr>
          <p:cNvPr id="9" name="Text 7"/>
          <p:cNvSpPr/>
          <p:nvPr/>
        </p:nvSpPr>
        <p:spPr>
          <a:xfrm>
            <a:off x="292608" y="149961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841248" y="1536192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4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3-Tier RBAC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10896" y="1956816"/>
            <a:ext cx="261518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Admin, Teacher, Student roles each have distinct dashboards, permissions, and data access. Role-based guards protect every route.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182112" y="1389888"/>
            <a:ext cx="2834640" cy="14813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82112" y="1389888"/>
            <a:ext cx="283464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3273552" y="149961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822192" y="1536192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GPA Calculation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91840" y="1956816"/>
            <a:ext cx="261518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weighted GPA per student using enrolled courses and credit hours. Classified as Distinction, Merit, Pass, or Fail.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63056" y="1389888"/>
            <a:ext cx="2834640" cy="14813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63056" y="1389888"/>
            <a:ext cx="283464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6254496" y="149961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803136" y="1536192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Management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72784" y="1956816"/>
            <a:ext cx="261518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creates departments and assigns courses to them. Students enroll per department. All data is dynamic — zero hardcoded values.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01168" y="3054096"/>
            <a:ext cx="2834640" cy="14813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01168" y="3054096"/>
            <a:ext cx="283464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4" name="Text 22"/>
          <p:cNvSpPr/>
          <p:nvPr/>
        </p:nvSpPr>
        <p:spPr>
          <a:xfrm>
            <a:off x="292608" y="316382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841248" y="3200400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 / Offline Access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10896" y="3621024"/>
            <a:ext cx="261518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binds to 0.0.0.0 so any device on the same WiFi can access the system. Admin generates a QR code for instant URL sharing.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163824" y="3098292"/>
            <a:ext cx="2834640" cy="14813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163824" y="3054096"/>
            <a:ext cx="283464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0" name="Text 28"/>
          <p:cNvSpPr/>
          <p:nvPr/>
        </p:nvSpPr>
        <p:spPr>
          <a:xfrm>
            <a:off x="3822192" y="3200400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Security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291840" y="3547872"/>
            <a:ext cx="261518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Passwords are hashed using bcrypt before storage. All API routes are protected by JWT (JSON Web Tokens) — signed tokens are stored in localStorage and attached automatically to every request via an Authorization: Bearer header.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163056" y="3054096"/>
            <a:ext cx="2834640" cy="14813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163056" y="3054096"/>
            <a:ext cx="283464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4" name="Text 32"/>
          <p:cNvSpPr/>
          <p:nvPr/>
        </p:nvSpPr>
        <p:spPr>
          <a:xfrm>
            <a:off x="6254496" y="316382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6803136" y="3200400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Inbox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272784" y="3621024"/>
            <a:ext cx="261518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submit grade complaints. Admin reviews, resolves, and clears feedback centrally from the Admin Dashboard.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2A6B"/>
          </a:solidFill>
          <a:ln/>
        </p:spPr>
      </p:sp>
      <p:sp>
        <p:nvSpPr>
          <p:cNvPr id="38" name="Text 36"/>
          <p:cNvSpPr/>
          <p:nvPr/>
        </p:nvSpPr>
        <p:spPr>
          <a:xfrm>
            <a:off x="137160" y="4818888"/>
            <a:ext cx="8869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0AE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MERIKI JUBERT  •  HND SOFTWARE ENGINEERING  •  SHIBMATS  •  2025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8686800" y="481888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0AE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2A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566928"/>
            <a:ext cx="2560320" cy="2560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56692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USER INTERFACE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9144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Purpose-Built Dashboards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201168" y="1417320"/>
            <a:ext cx="2834640" cy="3383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01168" y="1417320"/>
            <a:ext cx="2834640" cy="457200"/>
          </a:xfrm>
          <a:prstGeom prst="rect">
            <a:avLst/>
          </a:prstGeom>
          <a:solidFill>
            <a:srgbClr val="2E4BB5"/>
          </a:solidFill>
          <a:ln/>
        </p:spPr>
      </p:sp>
      <p:sp>
        <p:nvSpPr>
          <p:cNvPr id="9" name="Text 7"/>
          <p:cNvSpPr/>
          <p:nvPr/>
        </p:nvSpPr>
        <p:spPr>
          <a:xfrm>
            <a:off x="292608" y="148132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Dashboard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38328" y="1993392"/>
            <a:ext cx="25603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Enrolled courses &amp; grades table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Credits per course displayed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Auto-calculated GPA + classification badge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Grade Issue form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182112" y="1417320"/>
            <a:ext cx="2834640" cy="3383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82112" y="1417320"/>
            <a:ext cx="2834640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3273552" y="148132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Dashboard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19272" y="1993392"/>
            <a:ext cx="25603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switcher (one button per course)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list with editable grades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entry form with full A–F scale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Feedback/notifications panel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63056" y="1417320"/>
            <a:ext cx="2834640" cy="3383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63056" y="1417320"/>
            <a:ext cx="2834640" cy="457200"/>
          </a:xfrm>
          <a:prstGeom prst="rect">
            <a:avLst/>
          </a:prstGeom>
          <a:solidFill>
            <a:srgbClr val="1B2A6B"/>
          </a:solidFill>
          <a:ln/>
        </p:spPr>
      </p:sp>
      <p:sp>
        <p:nvSpPr>
          <p:cNvPr id="17" name="Text 15"/>
          <p:cNvSpPr/>
          <p:nvPr/>
        </p:nvSpPr>
        <p:spPr>
          <a:xfrm>
            <a:off x="6254496" y="148132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00216" y="1993392"/>
            <a:ext cx="25603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stat cards (students, teachers, courses)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management (add, edit role, delete)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&amp; department CRUD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inbox + LAN QR code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2A6B"/>
          </a:solidFill>
          <a:ln/>
        </p:spPr>
      </p:sp>
      <p:sp>
        <p:nvSpPr>
          <p:cNvPr id="20" name="Text 18"/>
          <p:cNvSpPr/>
          <p:nvPr/>
        </p:nvSpPr>
        <p:spPr>
          <a:xfrm>
            <a:off x="137160" y="4818888"/>
            <a:ext cx="8869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0AE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MERIKI JUBERT  •  HND SOFTWARE ENGINEERING  •  SHIBMATS  •  2025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8686800" y="481888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0AE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2A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566928"/>
            <a:ext cx="2560320" cy="2560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56692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DATA RESILIENCE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9144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&amp; Restoration System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228600" y="1417320"/>
            <a:ext cx="8686800" cy="594360"/>
          </a:xfrm>
          <a:prstGeom prst="rect">
            <a:avLst/>
          </a:prstGeom>
          <a:solidFill>
            <a:srgbClr val="1B2A6B"/>
          </a:solidFill>
          <a:ln/>
        </p:spPr>
      </p:sp>
      <p:sp>
        <p:nvSpPr>
          <p:cNvPr id="8" name="Text 6"/>
          <p:cNvSpPr/>
          <p:nvPr/>
        </p:nvSpPr>
        <p:spPr>
          <a:xfrm>
            <a:off x="384048" y="1481328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StudentHub includes a three-layer data protection strategy — ensuring no academic record is ever permanently lost.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01168" y="2148840"/>
            <a:ext cx="2743200" cy="2651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01168" y="2148840"/>
            <a:ext cx="27432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Shape 9"/>
          <p:cNvSpPr/>
          <p:nvPr/>
        </p:nvSpPr>
        <p:spPr>
          <a:xfrm>
            <a:off x="201168" y="2148840"/>
            <a:ext cx="2743200" cy="475488"/>
          </a:xfrm>
          <a:prstGeom prst="rect">
            <a:avLst/>
          </a:prstGeom>
          <a:solidFill>
            <a:srgbClr val="0D9488">
              <a:alpha val="15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" y="2176272"/>
            <a:ext cx="2505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AUTO BACKUP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0040" y="2706624"/>
            <a:ext cx="2505456" cy="2029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 </a:t>
            </a: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24 hours via setInterval
</a:t>
            </a:r>
            <a:r>
              <a:rPr lang="en-US" sz="11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</a:t>
            </a: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fs.copyFileSync() — Node.js File System
</a:t>
            </a:r>
            <a:r>
              <a:rPr lang="en-US" sz="11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Storage: </a:t>
            </a: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/backups directory
</a:t>
            </a:r>
            <a:r>
              <a:rPr lang="en-US" sz="11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Naming: </a:t>
            </a: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studenthub_backup_2025-10-15.db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(date-stamped for history)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017520" y="3337560"/>
            <a:ext cx="50292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2999232" y="32186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584448" y="2148840"/>
            <a:ext cx="2743200" cy="2651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584448" y="2148840"/>
            <a:ext cx="2743200" cy="54864"/>
          </a:xfrm>
          <a:prstGeom prst="rect">
            <a:avLst/>
          </a:prstGeom>
          <a:solidFill>
            <a:srgbClr val="2E4BB5"/>
          </a:solidFill>
          <a:ln/>
        </p:spPr>
      </p:sp>
      <p:sp>
        <p:nvSpPr>
          <p:cNvPr id="18" name="Shape 16"/>
          <p:cNvSpPr/>
          <p:nvPr/>
        </p:nvSpPr>
        <p:spPr>
          <a:xfrm>
            <a:off x="3584448" y="2148840"/>
            <a:ext cx="2743200" cy="475488"/>
          </a:xfrm>
          <a:prstGeom prst="rect">
            <a:avLst/>
          </a:prstGeom>
          <a:solidFill>
            <a:srgbClr val="2E4BB5">
              <a:alpha val="15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3703320" y="2176272"/>
            <a:ext cx="2505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4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MANUAL DOWNLOAD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703320" y="2706624"/>
            <a:ext cx="2505456" cy="2029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 </a:t>
            </a: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clicks 'Download Database'
</a:t>
            </a:r>
            <a:r>
              <a:rPr lang="en-US" sz="11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Route: </a:t>
            </a: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/api/admin/backup
</a:t>
            </a:r>
            <a:r>
              <a:rPr lang="en-US" sz="11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</a:t>
            </a: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res.download() streams the live .db file to the admin's computer
</a:t>
            </a:r>
            <a:r>
              <a:rPr lang="en-US" sz="11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</a:t>
            </a: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1-to-1 snapshot of current state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0" y="3337560"/>
            <a:ext cx="502920" cy="54864"/>
          </a:xfrm>
          <a:prstGeom prst="rect">
            <a:avLst/>
          </a:prstGeom>
          <a:solidFill>
            <a:srgbClr val="2E4BB5"/>
          </a:solidFill>
          <a:ln/>
        </p:spPr>
      </p:sp>
      <p:sp>
        <p:nvSpPr>
          <p:cNvPr id="22" name="Text 20"/>
          <p:cNvSpPr/>
          <p:nvPr/>
        </p:nvSpPr>
        <p:spPr>
          <a:xfrm>
            <a:off x="6382512" y="32186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E4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6967728" y="2148840"/>
            <a:ext cx="1947672" cy="2651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967728" y="2148840"/>
            <a:ext cx="194767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5" name="Shape 23"/>
          <p:cNvSpPr/>
          <p:nvPr/>
        </p:nvSpPr>
        <p:spPr>
          <a:xfrm>
            <a:off x="6967728" y="2148840"/>
            <a:ext cx="1947672" cy="475488"/>
          </a:xfrm>
          <a:prstGeom prst="rect">
            <a:avLst/>
          </a:prstGeom>
          <a:solidFill>
            <a:srgbClr val="7C3AED">
              <a:alpha val="15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7059168" y="2176272"/>
            <a:ext cx="17647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RESTORE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059168" y="2706624"/>
            <a:ext cx="1764792" cy="2029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Route: </a:t>
            </a: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/api/admin/restore
</a:t>
            </a:r>
            <a:r>
              <a:rPr lang="en-US" sz="10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Upload: </a:t>
            </a: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Accepts .db via multer
</a:t>
            </a:r>
            <a:r>
              <a:rPr lang="en-US" sz="10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Steps:
</a:t>
            </a: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db.close()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Overwrite .db file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Delete temp upload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Reconnect DB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Dashboard reloads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2A6B"/>
          </a:solidFill>
          <a:ln/>
        </p:spPr>
      </p:sp>
      <p:sp>
        <p:nvSpPr>
          <p:cNvPr id="29" name="Text 27"/>
          <p:cNvSpPr/>
          <p:nvPr/>
        </p:nvSpPr>
        <p:spPr>
          <a:xfrm>
            <a:off x="137160" y="4818888"/>
            <a:ext cx="8869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0AE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MERIKI JUBERT  •  HND SOFTWARE ENGINEERING  •  SHIBMATS  •  2025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8686800" y="481888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0AE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41F52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914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548640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Impact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20040" y="1170432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4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StudentHub matters for Cameroon's educational system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1737360"/>
            <a:ext cx="4297680" cy="1325880"/>
          </a:xfrm>
          <a:prstGeom prst="rect">
            <a:avLst/>
          </a:prstGeom>
          <a:solidFill>
            <a:srgbClr val="1E3A7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737360"/>
            <a:ext cx="429768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384048" y="186537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960120" y="1847088"/>
            <a:ext cx="3493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Bridges the Digital Divide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60120" y="2157984"/>
            <a:ext cx="3493008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schools with unreliable internet. Runs entirely offline on a local network — accessible on any device in the building.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92040" y="1737360"/>
            <a:ext cx="4297680" cy="1325880"/>
          </a:xfrm>
          <a:prstGeom prst="rect">
            <a:avLst/>
          </a:prstGeom>
          <a:solidFill>
            <a:srgbClr val="1E3A7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92040" y="1737360"/>
            <a:ext cx="429768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5001768" y="186537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5577840" y="1847088"/>
            <a:ext cx="3493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Dramatically Reduces Costs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577840" y="2157984"/>
            <a:ext cx="3493008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licensing fees. No cloud subscription. Runs on any laptop. A school can deploy this system for free after a one-time setup.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3273552"/>
            <a:ext cx="4297680" cy="1325880"/>
          </a:xfrm>
          <a:prstGeom prst="rect">
            <a:avLst/>
          </a:prstGeom>
          <a:solidFill>
            <a:srgbClr val="1E3A7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3273552"/>
            <a:ext cx="429768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0" name="Text 18"/>
          <p:cNvSpPr/>
          <p:nvPr/>
        </p:nvSpPr>
        <p:spPr>
          <a:xfrm>
            <a:off x="384048" y="34015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960120" y="3383280"/>
            <a:ext cx="3493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Eliminates Manual Errors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60120" y="3694176"/>
            <a:ext cx="3493008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GPA calculation replaces error-prone manual arithmetic. Grade complaints are tracked and managed digitally.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92040" y="3273552"/>
            <a:ext cx="4297680" cy="1325880"/>
          </a:xfrm>
          <a:prstGeom prst="rect">
            <a:avLst/>
          </a:prstGeom>
          <a:solidFill>
            <a:srgbClr val="1E3A7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92040" y="3273552"/>
            <a:ext cx="429768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5" name="Text 23"/>
          <p:cNvSpPr/>
          <p:nvPr/>
        </p:nvSpPr>
        <p:spPr>
          <a:xfrm>
            <a:off x="5001768" y="34015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5577840" y="3383280"/>
            <a:ext cx="3493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with the Institution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577840" y="3694176"/>
            <a:ext cx="3493008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Admins add departments, courses, and users dynamically. The system grows with the school without requiring code changes.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41F52"/>
          </a:solidFill>
          <a:ln/>
        </p:spPr>
      </p:sp>
      <p:sp>
        <p:nvSpPr>
          <p:cNvPr id="29" name="Text 27"/>
          <p:cNvSpPr/>
          <p:nvPr/>
        </p:nvSpPr>
        <p:spPr>
          <a:xfrm>
            <a:off x="137160" y="481888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0AE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MERIKI JUBERT  •  HND SOFTWARE ENGINEERING  •  SHIBMATS  •  2025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8686800" y="481888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0AE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2A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566928"/>
            <a:ext cx="2560320" cy="2560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56692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LIMITATIONS &amp; FUTURE WORK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9144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Reflection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228600" y="1417320"/>
            <a:ext cx="4187952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1417320"/>
            <a:ext cx="4187952" cy="38404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4630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Limitations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192024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attendance tracking module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235000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cannot edit their own profiles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2779776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email or SMS notifications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3209544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Single-device deployment (no cloud sync)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" y="3639312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parent/guardian portal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27448" y="1417320"/>
            <a:ext cx="4187952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27448" y="1417320"/>
            <a:ext cx="4187952" cy="38404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4864608" y="14630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64608" y="192024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tracking with daily registers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64608" y="235000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&amp; teacher profile editing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64608" y="2779776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Email/SMS grade notifications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64608" y="3209544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cloud sync (Supabase) for wider access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64608" y="3639312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portal for viewing student progress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2A6B"/>
          </a:solidFill>
          <a:ln/>
        </p:spPr>
      </p:sp>
      <p:sp>
        <p:nvSpPr>
          <p:cNvPr id="24" name="Text 22"/>
          <p:cNvSpPr/>
          <p:nvPr/>
        </p:nvSpPr>
        <p:spPr>
          <a:xfrm>
            <a:off x="137160" y="4818888"/>
            <a:ext cx="8869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0AE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MERIKI JUBERT  •  HND SOFTWARE ENGINEERING  •  SHIBMATS  •  2025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686800" y="481888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0AE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94360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320040" y="1261872"/>
            <a:ext cx="4114800" cy="36576"/>
          </a:xfrm>
          <a:prstGeom prst="rect">
            <a:avLst/>
          </a:prstGeom>
          <a:solidFill>
            <a:srgbClr val="0D9488">
              <a:alpha val="6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353312"/>
            <a:ext cx="8321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4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StudentHub demonstrates that affordable, offline-first technology can meaningfully solve administrative challenges in resource-constrained educational environments.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2176272"/>
            <a:ext cx="8321040" cy="347472"/>
          </a:xfrm>
          <a:prstGeom prst="rect">
            <a:avLst/>
          </a:prstGeom>
          <a:solidFill>
            <a:srgbClr val="1E3A7A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212848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Three-tier RBAC system serves students, teachers, and admins securely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2596896"/>
            <a:ext cx="8321040" cy="347472"/>
          </a:xfrm>
          <a:prstGeom prst="rect">
            <a:avLst/>
          </a:prstGeom>
          <a:solidFill>
            <a:srgbClr val="172857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63347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Fully dynamic — zero hardcoded academic data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3017520"/>
            <a:ext cx="8321040" cy="347472"/>
          </a:xfrm>
          <a:prstGeom prst="rect">
            <a:avLst/>
          </a:prstGeom>
          <a:solidFill>
            <a:srgbClr val="1E3A7A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054096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GPA calculated automatically using enrolled courses and credit hours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3438144"/>
            <a:ext cx="8321040" cy="347472"/>
          </a:xfrm>
          <a:prstGeom prst="rect">
            <a:avLst/>
          </a:prstGeom>
          <a:solidFill>
            <a:srgbClr val="172857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4747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LAN multi-device access — works without internet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3858768"/>
            <a:ext cx="8321040" cy="347472"/>
          </a:xfrm>
          <a:prstGeom prst="rect">
            <a:avLst/>
          </a:prstGeom>
          <a:solidFill>
            <a:srgbClr val="1E3A7A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895344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bcrypt password hashing + JWT token authentication on every API route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" y="4279392"/>
            <a:ext cx="8321040" cy="347472"/>
          </a:xfrm>
          <a:prstGeom prst="rect">
            <a:avLst/>
          </a:prstGeom>
          <a:solidFill>
            <a:srgbClr val="172857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4315968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Automated 24-hr backups + manual download &amp; full system restore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4700016"/>
            <a:ext cx="8321040" cy="347472"/>
          </a:xfrm>
          <a:prstGeom prst="rect">
            <a:avLst/>
          </a:prstGeom>
          <a:solidFill>
            <a:srgbClr val="1E3A7A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73659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Deployable at any school for free on a single laptop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080760" y="201168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E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your attention.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019334" y="676656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MERIKI JUBERT  •  2025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2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53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545027"/>
            <a:ext cx="9144000" cy="54864"/>
          </a:xfrm>
          <a:prstGeom prst="rect">
            <a:avLst/>
          </a:prstGeom>
          <a:solidFill>
            <a:srgbClr val="0D9488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114800" y="0"/>
            <a:ext cx="54864" cy="5143500"/>
          </a:xfrm>
          <a:prstGeom prst="rect">
            <a:avLst/>
          </a:prstGeom>
          <a:solidFill>
            <a:srgbClr val="0D9488">
              <a:alpha val="3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64008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274320" y="192024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274320" y="2670048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43400" y="365760"/>
            <a:ext cx="4389120" cy="36576"/>
          </a:xfrm>
          <a:prstGeom prst="rect">
            <a:avLst/>
          </a:prstGeom>
          <a:solidFill>
            <a:srgbClr val="0D9488">
              <a:alpha val="6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4343400" y="50292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MERIKI JUBERT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343400" y="987552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4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HND Year 2 — Software Engineering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343400" y="128016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SHIBMATS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43400" y="1664208"/>
            <a:ext cx="4389120" cy="36576"/>
          </a:xfrm>
          <a:prstGeom prst="rect">
            <a:avLst/>
          </a:prstGeom>
          <a:solidFill>
            <a:srgbClr val="0D9488">
              <a:alpha val="4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4343400" y="1773936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AE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Project: StudentHub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343400" y="2066544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Implementation of 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Locally-Hosted Student Management System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343400" y="265176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AE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Host: Digital Development Center, Buea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343400" y="2944368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AE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Period: July 1 – August 1, 2025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43400" y="3337560"/>
            <a:ext cx="4389120" cy="36576"/>
          </a:xfrm>
          <a:prstGeom prst="rect">
            <a:avLst/>
          </a:prstGeom>
          <a:solidFill>
            <a:srgbClr val="0D9488">
              <a:alpha val="4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4343400" y="3438144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E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by: Mr. Kwanyuy Daniel Vernyuy &amp; Ms. Tabi Lizzy (DDC)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343400" y="3767328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E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Supervisor: Madam Tabi Lizzy (SHIBMATS)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1598</Words>
  <Application>Microsoft Office PowerPoint</Application>
  <PresentationFormat>On-screen Show (16:9)</PresentationFormat>
  <Paragraphs>267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StudentHub — HND Defense Presentation</dc:title>
  <dc:subject>PptxGenJS Presentation</dc:subject>
  <dc:creator>Meriki Jubert</dc:creator>
  <cp:lastModifiedBy>meriki jubert</cp:lastModifiedBy>
  <cp:revision>2</cp:revision>
  <dcterms:created xsi:type="dcterms:W3CDTF">2026-04-01T03:52:04Z</dcterms:created>
  <dcterms:modified xsi:type="dcterms:W3CDTF">2026-04-01T04:15:55Z</dcterms:modified>
</cp:coreProperties>
</file>